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008"/>
    <p:restoredTop sz="94661"/>
  </p:normalViewPr>
  <p:slideViewPr>
    <p:cSldViewPr snapToGrid="0" snapToObjects="1">
      <p:cViewPr varScale="1">
        <p:scale>
          <a:sx n="67" d="100"/>
          <a:sy n="67" d="100"/>
        </p:scale>
        <p:origin x="-7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909560" y="594360"/>
            <a:ext cx="3794760" cy="3794760"/>
          </a:xfrm>
          <a:prstGeom prst="ellipse">
            <a:avLst/>
          </a:prstGeom>
          <a:solidFill>
            <a:srgbClr val="DC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6035040" cy="1371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3400" b="1">
                <a:solidFill>
                  <a:srgbClr val="006864"/>
                </a:solidFill>
                <a:latin typeface="Aptos Display"/>
              </a:defRPr>
            </a:pPr>
            <a:r>
              <a:t>Intelligent Customer</a:t>
            </a:r>
            <a:br/>
            <a:r>
              <a:t>Support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2179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ptos"/>
              </a:defRPr>
            </a:pPr>
            <a:r>
              <a:t>Using NLP, Chatbots &amp; Explainable AI with Transparent Confidence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5989320" cy="664797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20" b="0">
                <a:solidFill>
                  <a:srgbClr val="566373"/>
                </a:solidFill>
                <a:latin typeface="Aptos"/>
              </a:defRPr>
            </a:pPr>
            <a:r>
              <a:rPr/>
              <a:t>A </a:t>
            </a:r>
            <a:r>
              <a:rPr lang="en-IN" dirty="0" smtClean="0"/>
              <a:t> </a:t>
            </a:r>
            <a:r>
              <a:rPr smtClean="0"/>
              <a:t>support </a:t>
            </a:r>
            <a:r>
              <a:t>assistant that detects user intent, checks real database records, shows confidence, explains reasoning, and escalates to humans when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6126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219456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006864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79392"/>
            <a:ext cx="5669280" cy="957185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200"/>
              <a:t>Anjana Vaidyula — Project Manager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200"/>
              <a:t>Suraj Reddy Kota — Project Technical Manager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200"/>
              <a:t>Akshaya Bollikonda — Project Design Manager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200"/>
              <a:t>Sai Abhiram Goud Seekati — Configuration Manager</a:t>
            </a:r>
          </a:p>
        </p:txBody>
      </p:sp>
      <p:pic>
        <p:nvPicPr>
          <p:cNvPr id="10" name="Picture 9" descr="friendly_ai_assistant_with_chat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960120"/>
            <a:ext cx="3977639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Why current customer support chatbots need more transparency and data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673351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23643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64207"/>
            <a:ext cx="44805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Black-Box Responses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75688"/>
            <a:ext cx="4892040" cy="832103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rPr dirty="0"/>
              <a:t>Most bots answer without showing why the answer was chosen, so users cannot judge if it is reliable.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0" y="1673351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723643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64207"/>
            <a:ext cx="44805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No Confidence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75688"/>
            <a:ext cx="4892040" cy="832103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rPr dirty="0"/>
              <a:t>The user sees a message, but not whether the bot is 95% sure or only guessing with low certainty.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4050791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0108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41648"/>
            <a:ext cx="44805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Generic Canned Replies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53128"/>
            <a:ext cx="4892040" cy="832103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Traditional flows often rely on fixed templates instead of checking live order, transaction, or subscription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8620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0800" y="4050791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10108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041648"/>
            <a:ext cx="44805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Delayed Human Handoff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453128"/>
            <a:ext cx="4892040" cy="832103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Users are usually transferred to an agent only after repeated failed steps, which increases frustration.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Existing Systems: Real Retail Support Chatbots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Reference examples from big support systems such as Amazon, DoorDash, and 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243584"/>
            <a:ext cx="2880360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oor dash 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58" y="1645920"/>
            <a:ext cx="2658794" cy="3794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748059"/>
            <a:ext cx="288036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50" b="1">
                <a:solidFill>
                  <a:srgbClr val="006864"/>
                </a:solidFill>
                <a:latin typeface="Aptos"/>
              </a:defRPr>
            </a:pPr>
            <a:r>
              <a:rPr dirty="0"/>
              <a:t>DoorDash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96354"/>
            <a:ext cx="288036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850" b="0">
                <a:solidFill>
                  <a:srgbClr val="566373"/>
                </a:solidFill>
                <a:latin typeface="Aptos"/>
              </a:defRPr>
            </a:pPr>
            <a:r>
              <a:rPr dirty="0"/>
              <a:t>Asks for issue details; live agent path exists but can still require repeated explanation.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89304"/>
            <a:ext cx="2880360" cy="4288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mazon Chat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128" y="1645920"/>
            <a:ext cx="1872023" cy="3794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51960" y="5767754"/>
            <a:ext cx="288036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50" b="1">
                <a:solidFill>
                  <a:srgbClr val="006864"/>
                </a:solidFill>
                <a:latin typeface="Aptos"/>
              </a:defRPr>
            </a:pPr>
            <a:r>
              <a:rPr dirty="0"/>
              <a:t>Amazon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5996354"/>
            <a:ext cx="288036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850" b="0">
                <a:solidFill>
                  <a:srgbClr val="566373"/>
                </a:solidFill>
                <a:latin typeface="Aptos"/>
              </a:defRPr>
            </a:pPr>
            <a:r>
              <a:rPr dirty="0"/>
              <a:t>Uses support agents and database checks, but user does not see confidence or reasoning.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289304"/>
            <a:ext cx="2880360" cy="4288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lipkart chat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856" y="1453896"/>
            <a:ext cx="1926886" cy="39867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18120" y="5714297"/>
            <a:ext cx="288036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50" b="1">
                <a:solidFill>
                  <a:srgbClr val="006864"/>
                </a:solidFill>
                <a:latin typeface="Aptos"/>
              </a:defRPr>
            </a:pPr>
            <a:r>
              <a:rPr dirty="0"/>
              <a:t>Flipkart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976659"/>
            <a:ext cx="288036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850" b="0">
                <a:solidFill>
                  <a:srgbClr val="566373"/>
                </a:solidFill>
                <a:latin typeface="Aptos"/>
              </a:defRPr>
            </a:pPr>
            <a:r>
              <a:rPr dirty="0"/>
              <a:t>Guides users through menu-style support options before free-text resolution.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Existing Systems vs Our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Clear gap analysis and how our project improves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37744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2231136" cy="18288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338328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2" y="1545336"/>
            <a:ext cx="3236976" cy="18288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Traditional Chatbots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417320"/>
            <a:ext cx="4526280" cy="521207"/>
          </a:xfrm>
          <a:prstGeom prst="roundRect">
            <a:avLst/>
          </a:prstGeom>
          <a:solidFill>
            <a:srgbClr val="DCFCF7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31152" y="1545336"/>
            <a:ext cx="4379976" cy="18288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Our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039112"/>
            <a:ext cx="2377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167128"/>
            <a:ext cx="219456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1">
                <a:solidFill>
                  <a:srgbClr val="1F2937"/>
                </a:solidFill>
                <a:latin typeface="Aptos"/>
              </a:defRPr>
            </a:pPr>
            <a:r>
              <a:t>Confidence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039112"/>
            <a:ext cx="3383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2167128"/>
            <a:ext cx="3200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Usually hidden from 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039112"/>
            <a:ext cx="4526280" cy="5669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2167128"/>
            <a:ext cx="4343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0–100% confidence visible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97480"/>
            <a:ext cx="2377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825496"/>
            <a:ext cx="219456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1">
                <a:solidFill>
                  <a:srgbClr val="1F2937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697480"/>
            <a:ext cx="3383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37560" y="2825496"/>
            <a:ext cx="3200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Black-box answer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697480"/>
            <a:ext cx="4526280" cy="5669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2825496"/>
            <a:ext cx="4343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Shows intent, sentiment, DB source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355848"/>
            <a:ext cx="2377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483864"/>
            <a:ext cx="219456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1">
                <a:solidFill>
                  <a:srgbClr val="1F2937"/>
                </a:solidFill>
                <a:latin typeface="Aptos"/>
              </a:defRPr>
            </a:pPr>
            <a:r>
              <a:t>Response 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3355848"/>
            <a:ext cx="3383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37560" y="3483864"/>
            <a:ext cx="3200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Templates or agent scripts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3355848"/>
            <a:ext cx="4526280" cy="5669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0" y="3483864"/>
            <a:ext cx="4343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Database-verified 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014215"/>
            <a:ext cx="2377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4142231"/>
            <a:ext cx="219456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1">
                <a:solidFill>
                  <a:srgbClr val="1F2937"/>
                </a:solidFill>
                <a:latin typeface="Aptos"/>
              </a:defRPr>
            </a:pPr>
            <a:r>
              <a:t>Personalization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4014215"/>
            <a:ext cx="3383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37560" y="4142231"/>
            <a:ext cx="3200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Low to medium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4014215"/>
            <a:ext cx="4526280" cy="5669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49440" y="4142231"/>
            <a:ext cx="4343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Uses customer/order/subscription records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672583"/>
            <a:ext cx="2377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4800599"/>
            <a:ext cx="219456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1">
                <a:solidFill>
                  <a:srgbClr val="1F2937"/>
                </a:solidFill>
                <a:latin typeface="Aptos"/>
              </a:defRPr>
            </a:pPr>
            <a:r>
              <a:t>Human Handoff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4672583"/>
            <a:ext cx="3383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37560" y="4800599"/>
            <a:ext cx="3200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Reactive after failures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672583"/>
            <a:ext cx="4526280" cy="5669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0" y="4800599"/>
            <a:ext cx="4343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Proactive when risk is high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330951"/>
            <a:ext cx="2377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" y="5458967"/>
            <a:ext cx="219456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1">
                <a:solidFill>
                  <a:srgbClr val="1F2937"/>
                </a:solidFill>
                <a:latin typeface="Aptos"/>
              </a:defRPr>
            </a:pPr>
            <a:r>
              <a:t>User Trust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46120" y="5330951"/>
            <a:ext cx="3383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458967"/>
            <a:ext cx="3200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Depends on repeated interaction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5330951"/>
            <a:ext cx="4526280" cy="5669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49440" y="5458967"/>
            <a:ext cx="434340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50" b="0">
                <a:solidFill>
                  <a:srgbClr val="566373"/>
                </a:solidFill>
                <a:latin typeface="Aptos"/>
              </a:defRPr>
            </a:pPr>
            <a:r>
              <a:t>Improved by visible reasoning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" y="6089904"/>
            <a:ext cx="10378440" cy="411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32688" y="6172200"/>
            <a:ext cx="1010412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70" b="1">
                <a:solidFill>
                  <a:srgbClr val="1F2937"/>
                </a:solidFill>
                <a:latin typeface="Aptos"/>
              </a:defRPr>
            </a:pPr>
            <a:r>
              <a:t>Main improvement: our system does not only reply; it explains confidence, verifies data, and decides when human support is safer.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Four Core Pillars of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The design focus that makes the chatbot trustworthy and 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581912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3220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44805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Transparent Confidence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25980"/>
            <a:ext cx="4892040" cy="92354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rPr dirty="0"/>
              <a:t>Every response includes a 0–100% score so the user can understand whether the answer is verified, uncertain, or risky.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0" y="1581912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3220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572768"/>
            <a:ext cx="44805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Database-Verified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11209"/>
            <a:ext cx="4892040" cy="92354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rPr dirty="0"/>
              <a:t>The bot checks customer, order, transaction, and subscription records before giving a factual answer.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947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3959352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0964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50208"/>
            <a:ext cx="44805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Explainable AI (XAI)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" y="4517136"/>
            <a:ext cx="4892040" cy="92354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rPr dirty="0"/>
              <a:t>The interface shows detected intent, sentiment, trigger words, queried tables, and response source.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947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0800" y="3959352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00964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50208"/>
            <a:ext cx="44805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Proactive Human Handoff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17136"/>
            <a:ext cx="4892040" cy="92354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The system recommends an agent when confidence is low, frustration is high, or an ID is missing.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End-to-end flow from customer query to transparent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057400" cy="164592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874519" cy="25603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250" b="1">
                <a:solidFill>
                  <a:srgbClr val="006864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14600"/>
            <a:ext cx="1719072" cy="685800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Customer chat UI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Confidence display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XAI explanation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78608"/>
            <a:ext cx="411480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2200" b="1">
                <a:solidFill>
                  <a:srgbClr val="00686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965960"/>
            <a:ext cx="2057400" cy="1645920"/>
          </a:xfrm>
          <a:prstGeom prst="roundRect">
            <a:avLst/>
          </a:prstGeom>
          <a:solidFill>
            <a:srgbClr val="DCFC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2148840"/>
            <a:ext cx="1874519" cy="25603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250" b="1">
                <a:solidFill>
                  <a:srgbClr val="006864"/>
                </a:solidFill>
                <a:latin typeface="Aptos"/>
              </a:defRPr>
            </a:pPr>
            <a:r>
              <a:t>Flask Backend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14600"/>
            <a:ext cx="1719072" cy="685800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Routes requests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Controls business logic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Connects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2578608"/>
            <a:ext cx="411480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2200" b="1">
                <a:solidFill>
                  <a:srgbClr val="00686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1965960"/>
            <a:ext cx="2057400" cy="1645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94375" y="2148840"/>
            <a:ext cx="1874519" cy="25603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250" b="1">
                <a:solidFill>
                  <a:srgbClr val="006864"/>
                </a:solidFill>
                <a:latin typeface="Aptos"/>
              </a:defRPr>
            </a:pPr>
            <a:r>
              <a:t>NLP / 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7" y="2514600"/>
            <a:ext cx="1719072" cy="685800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Intent classification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Sentiment analysis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Response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5" y="2578608"/>
            <a:ext cx="411480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2200" b="1">
                <a:solidFill>
                  <a:srgbClr val="00686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7223" y="1965960"/>
            <a:ext cx="2057400" cy="1645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98663" y="2148840"/>
            <a:ext cx="1874519" cy="25603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250" b="1">
                <a:solidFill>
                  <a:srgbClr val="006864"/>
                </a:solidFill>
                <a:latin typeface="Aptos"/>
              </a:defRPr>
            </a:pPr>
            <a:r>
              <a:t>PostgreSQL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5" y="2514600"/>
            <a:ext cx="1719072" cy="685800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Customers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Orders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Transactions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Subscriptions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063" y="2578608"/>
            <a:ext cx="411480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2200" b="1">
                <a:solidFill>
                  <a:srgbClr val="00686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1511" y="1965960"/>
            <a:ext cx="2057400" cy="16459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02951" y="2148840"/>
            <a:ext cx="1874519" cy="25603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250" b="1">
                <a:solidFill>
                  <a:srgbClr val="006864"/>
                </a:solidFill>
                <a:latin typeface="Aptos"/>
              </a:defRPr>
            </a:pPr>
            <a:r>
              <a:t>Final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6103" y="2514600"/>
            <a:ext cx="1719072" cy="685800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Verified answer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Confidence score</a:t>
            </a:r>
          </a:p>
          <a:p>
            <a:pPr>
              <a:spcAft>
                <a:spcPts val="400"/>
              </a:spcAft>
              <a:defRPr sz="950">
                <a:solidFill>
                  <a:srgbClr val="566373"/>
                </a:solidFill>
                <a:latin typeface="Aptos"/>
              </a:defRPr>
            </a:pPr>
            <a:r>
              <a:t>Handoff decision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4617720"/>
            <a:ext cx="10149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61872" y="4773168"/>
            <a:ext cx="219456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00" b="1">
                <a:solidFill>
                  <a:srgbClr val="006864"/>
                </a:solidFill>
                <a:latin typeface="Aptos"/>
              </a:defRPr>
            </a:pPr>
            <a:r>
              <a:t>Architecture 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93208"/>
            <a:ext cx="9601200" cy="38404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00" b="0">
                <a:solidFill>
                  <a:srgbClr val="566373"/>
                </a:solidFill>
                <a:latin typeface="Aptos"/>
              </a:defRPr>
            </a:pPr>
            <a:r>
              <a:t>The system follows a pipeline design: the frontend collects the query, Flask manages processing, AI/NLP detects meaning and tone, PostgreSQL verifies real records, and the final answer returns with confidence and explanation.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AI Models Used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Where AI is actually used and how it supports the chatbot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73936"/>
            <a:ext cx="438912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ptos"/>
              </a:defRPr>
            </a:pPr>
            <a:r>
              <a:rPr dirty="0"/>
              <a:t>1. Large Language Model (LLM)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32888"/>
            <a:ext cx="4846320" cy="1942070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 marL="228600" indent="-142875">
              <a:spcAft>
                <a:spcPts val="400"/>
              </a:spcAft>
              <a:defRPr sz="1220">
                <a:solidFill>
                  <a:srgbClr val="1F2937"/>
                </a:solidFill>
                <a:latin typeface="Aptos"/>
              </a:defRPr>
            </a:pPr>
            <a:r>
              <a:rPr sz="1400" dirty="0" err="1"/>
              <a:t>LLaMA</a:t>
            </a:r>
            <a:r>
              <a:rPr sz="1400" dirty="0"/>
              <a:t> 3.1 Instruct is used as the </a:t>
            </a:r>
            <a:r>
              <a:rPr sz="1400"/>
              <a:t>main </a:t>
            </a:r>
            <a:r>
              <a:rPr sz="1400" smtClean="0"/>
              <a:t>response-generation</a:t>
            </a:r>
            <a:r>
              <a:rPr lang="en-US" sz="1400" dirty="0" smtClean="0"/>
              <a:t> </a:t>
            </a:r>
            <a:r>
              <a:rPr sz="1400" dirty="0"/>
              <a:t>model.</a:t>
            </a:r>
          </a:p>
          <a:p>
            <a:pPr marL="228600" indent="-142875">
              <a:spcAft>
                <a:spcPts val="400"/>
              </a:spcAft>
              <a:defRPr sz="122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It converts the verified context into a natural</a:t>
            </a:r>
            <a:r>
              <a:rPr sz="1400"/>
              <a:t>, </a:t>
            </a:r>
            <a:r>
              <a:rPr sz="1400" smtClean="0"/>
              <a:t>helpful customer-support </a:t>
            </a:r>
            <a:r>
              <a:rPr sz="1400" dirty="0"/>
              <a:t>reply.</a:t>
            </a:r>
          </a:p>
          <a:p>
            <a:pPr marL="228600" indent="-142875">
              <a:spcAft>
                <a:spcPts val="400"/>
              </a:spcAft>
              <a:defRPr sz="122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The model is accessed through an </a:t>
            </a:r>
            <a:r>
              <a:rPr sz="1400"/>
              <a:t>OpenAI-compatible </a:t>
            </a:r>
            <a:r>
              <a:rPr sz="1400" smtClean="0"/>
              <a:t>API layer</a:t>
            </a:r>
            <a:r>
              <a:rPr sz="1400" dirty="0"/>
              <a:t>.</a:t>
            </a:r>
          </a:p>
          <a:p>
            <a:pPr marL="228600" indent="-142875">
              <a:spcAft>
                <a:spcPts val="400"/>
              </a:spcAft>
              <a:defRPr sz="122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It is not used alone; the answer is controlled </a:t>
            </a:r>
            <a:r>
              <a:rPr sz="1400"/>
              <a:t>by </a:t>
            </a:r>
            <a:r>
              <a:rPr sz="1400" smtClean="0"/>
              <a:t>intent, confidence</a:t>
            </a:r>
            <a:r>
              <a:rPr sz="1400" dirty="0"/>
              <a:t>, and database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1663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773936"/>
            <a:ext cx="438912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500" b="1">
                <a:solidFill>
                  <a:srgbClr val="006864"/>
                </a:solidFill>
                <a:latin typeface="Aptos"/>
              </a:defRPr>
            </a:pPr>
            <a:r>
              <a:rPr dirty="0"/>
              <a:t>2. Transformer / NLP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28316"/>
            <a:ext cx="4617720" cy="1942070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 marL="228600" indent="-142875">
              <a:spcAft>
                <a:spcPts val="400"/>
              </a:spcAft>
              <a:defRPr sz="1220">
                <a:solidFill>
                  <a:srgbClr val="1F2937"/>
                </a:solidFill>
                <a:latin typeface="Aptos"/>
              </a:defRPr>
            </a:pPr>
            <a:r>
              <a:rPr sz="1400" dirty="0" err="1"/>
              <a:t>RoBERTa</a:t>
            </a:r>
            <a:r>
              <a:rPr sz="1400" dirty="0"/>
              <a:t>-style sentiment model identifies positive, neutral, or negative tone.</a:t>
            </a:r>
          </a:p>
          <a:p>
            <a:pPr marL="228600" indent="-142875">
              <a:spcAft>
                <a:spcPts val="400"/>
              </a:spcAft>
              <a:defRPr sz="1220">
                <a:solidFill>
                  <a:srgbClr val="1F2937"/>
                </a:solidFill>
                <a:latin typeface="Aptos"/>
              </a:defRPr>
            </a:pPr>
            <a:r>
              <a:rPr sz="1400" dirty="0" err="1"/>
              <a:t>DistilBART</a:t>
            </a:r>
            <a:r>
              <a:rPr sz="1400" dirty="0"/>
              <a:t> / transformer classifier supports intent detection and fallback classification.</a:t>
            </a:r>
          </a:p>
          <a:p>
            <a:pPr marL="228600" indent="-142875">
              <a:spcAft>
                <a:spcPts val="400"/>
              </a:spcAft>
              <a:defRPr sz="122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Keyword and rule-based logic supports ID extraction and sub-intent detection.</a:t>
            </a:r>
          </a:p>
          <a:p>
            <a:pPr marL="228600" indent="-142875">
              <a:spcAft>
                <a:spcPts val="400"/>
              </a:spcAft>
              <a:defRPr sz="122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These models help the system decide whether to answer, ask follow-up, or hand off.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NLP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How a customer message becomes a support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581912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3220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72768"/>
            <a:ext cx="42519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Input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84248"/>
            <a:ext cx="4663440" cy="46634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Customer types a free-text issue such as refund, delivery, billing, or account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0" y="1581912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3220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572768"/>
            <a:ext cx="42519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84248"/>
            <a:ext cx="4663440" cy="46634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Text is normalized, cleaned, tokenized, and prepared for classification.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17520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3182112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232403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72968"/>
            <a:ext cx="42519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Intent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84448"/>
            <a:ext cx="4663440" cy="46634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The system predicts the main support category and sub-intent.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17520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0800" y="3182112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232403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72968"/>
            <a:ext cx="42519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Sentiment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84448"/>
            <a:ext cx="4663440" cy="46634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Tone is evaluated to detect frustration, urgency, or positive/neutral feedback.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17720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4782312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83260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773168"/>
            <a:ext cx="42519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ID Extraction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84648"/>
            <a:ext cx="4663440" cy="46634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Order ID, customer ID, transaction ID, or subscription ID is detected using patterns.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617720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00800" y="4782312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83260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73168"/>
            <a:ext cx="425196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Decision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184648"/>
            <a:ext cx="4663440" cy="46634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The system returns answer, confidence, explanation, and handoff recommendation.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Sentiment Score: Groups and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Reasonable explanation for how sentiment is selected and weighted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3891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500" b="1">
                <a:solidFill>
                  <a:srgbClr val="006864"/>
                </a:solidFill>
                <a:latin typeface="Aptos"/>
              </a:defRPr>
            </a:pPr>
            <a:r>
              <a:rPr dirty="0"/>
              <a:t>Sentiment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617720" cy="2208810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 marL="228600" indent="-142875">
              <a:spcAft>
                <a:spcPts val="4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Positive: happy, resolved, thank you, satisfied, working.</a:t>
            </a:r>
          </a:p>
          <a:p>
            <a:pPr marL="228600" indent="-142875">
              <a:spcAft>
                <a:spcPts val="4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Negative: angry, late, broken, charged twice, refund, not received.</a:t>
            </a:r>
          </a:p>
          <a:p>
            <a:pPr marL="228600" indent="-142875">
              <a:spcAft>
                <a:spcPts val="4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Neutral: basic tracking, account info, greeting, general question.</a:t>
            </a:r>
          </a:p>
          <a:p>
            <a:pPr marL="228600" indent="-142875">
              <a:spcAft>
                <a:spcPts val="4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Negators: not, never, no, don’t — reverse or reduce sentiment meaning.</a:t>
            </a:r>
          </a:p>
          <a:p>
            <a:pPr marL="228600" indent="-142875">
              <a:spcAft>
                <a:spcPts val="4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Intensifiers: very, extremely, urgent — increase emotion strength.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3891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ptos"/>
              </a:defRPr>
            </a:pPr>
            <a:r>
              <a:t>Formula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084831"/>
            <a:ext cx="4800600" cy="530352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8816" y="2249424"/>
            <a:ext cx="4617720" cy="18288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Aptos"/>
              </a:defRPr>
            </a:pPr>
            <a:r>
              <a:t>Sentiment Score = (Positive Strength − Negative Strength) / Total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07792"/>
            <a:ext cx="4663440" cy="1377813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 marL="228600" indent="-142875">
              <a:spcAft>
                <a:spcPts val="400"/>
              </a:spcAft>
              <a:defRPr sz="112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Score greater than +0.20 → Positive sentiment.</a:t>
            </a:r>
          </a:p>
          <a:p>
            <a:pPr marL="228600" indent="-142875">
              <a:spcAft>
                <a:spcPts val="400"/>
              </a:spcAft>
              <a:defRPr sz="112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Score between −0.20 and +0.20 → Neutral sentiment.</a:t>
            </a:r>
          </a:p>
          <a:p>
            <a:pPr marL="228600" indent="-142875">
              <a:spcAft>
                <a:spcPts val="400"/>
              </a:spcAft>
              <a:defRPr sz="112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Score less than −0.20 → Negative sentiment.</a:t>
            </a:r>
          </a:p>
          <a:p>
            <a:pPr marL="228600" indent="-142875">
              <a:spcAft>
                <a:spcPts val="400"/>
              </a:spcAft>
              <a:defRPr sz="112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Frustration intensity above 0.60 can trigger human handoff.</a:t>
            </a:r>
          </a:p>
          <a:p>
            <a:pPr marL="228600" indent="-142875">
              <a:spcAft>
                <a:spcPts val="400"/>
              </a:spcAft>
              <a:defRPr sz="112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Sentiment is weighted 15% because it affects urgency and tone, but database verification is more important for factual accuracy.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Transparent Confidence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How the system decides if an answer is reliable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972800" cy="960120"/>
          </a:xfrm>
          <a:prstGeom prst="roundRect">
            <a:avLst/>
          </a:prstGeom>
          <a:solidFill>
            <a:srgbClr val="DCFCF7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9344"/>
            <a:ext cx="10607040" cy="237744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Aptos"/>
              </a:defRPr>
            </a:pPr>
            <a:r>
              <a:t>Final Confidence = 0.20(Intent Match) + 0.10(Intent Clarity) + 0.15(Query Specificity) + 0.15(Sentiment Alignment) + 0.40(Data Verification)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88920"/>
            <a:ext cx="1874519" cy="25146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953512"/>
            <a:ext cx="1719072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169164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150" b="1">
                <a:solidFill>
                  <a:srgbClr val="1F2937"/>
                </a:solidFill>
                <a:latin typeface="Aptos"/>
              </a:defRPr>
            </a:pPr>
            <a:r>
              <a:t>Intent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03904"/>
            <a:ext cx="1600200" cy="868680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algn="ctr">
              <a:defRPr sz="919" b="0">
                <a:solidFill>
                  <a:srgbClr val="566373"/>
                </a:solidFill>
                <a:latin typeface="Aptos"/>
              </a:defRPr>
            </a:pPr>
            <a:r>
              <a:t>Checks how strongly the query matches one support category.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788920"/>
            <a:ext cx="1874519" cy="25146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2953512"/>
            <a:ext cx="1719072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01568"/>
            <a:ext cx="169164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150" b="1">
                <a:solidFill>
                  <a:srgbClr val="1F2937"/>
                </a:solidFill>
                <a:latin typeface="Aptos"/>
              </a:defRPr>
            </a:pPr>
            <a:r>
              <a:t>Intent Clarity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03904"/>
            <a:ext cx="1600200" cy="868680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algn="ctr">
              <a:defRPr sz="919" b="0">
                <a:solidFill>
                  <a:srgbClr val="566373"/>
                </a:solidFill>
                <a:latin typeface="Aptos"/>
              </a:defRPr>
            </a:pPr>
            <a:r>
              <a:t>Penalizes ambiguity when multiple intents are close.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788920"/>
            <a:ext cx="1874519" cy="25146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9512" y="2953512"/>
            <a:ext cx="1719072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401568"/>
            <a:ext cx="169164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150" b="1">
                <a:solidFill>
                  <a:srgbClr val="1F2937"/>
                </a:solidFill>
                <a:latin typeface="Aptos"/>
              </a:defRPr>
            </a:pPr>
            <a:r>
              <a:t>Query Specificity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803904"/>
            <a:ext cx="1600200" cy="868680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algn="ctr">
              <a:defRPr sz="919" b="0">
                <a:solidFill>
                  <a:srgbClr val="566373"/>
                </a:solidFill>
                <a:latin typeface="Aptos"/>
              </a:defRPr>
            </a:pPr>
            <a:r>
              <a:t>Detailed queries give more evidence, but long text is not over-rewarded.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788920"/>
            <a:ext cx="1874519" cy="2514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792" y="2953512"/>
            <a:ext cx="1719072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401568"/>
            <a:ext cx="169164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150" b="1">
                <a:solidFill>
                  <a:srgbClr val="1F2937"/>
                </a:solidFill>
                <a:latin typeface="Aptos"/>
              </a:defRPr>
            </a:pPr>
            <a:r>
              <a:t>Sentiment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803904"/>
            <a:ext cx="1600200" cy="868680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algn="ctr">
              <a:defRPr sz="919" b="0">
                <a:solidFill>
                  <a:srgbClr val="566373"/>
                </a:solidFill>
                <a:latin typeface="Aptos"/>
              </a:defRPr>
            </a:pPr>
            <a:r>
              <a:t>Checks whether emotion and issue type make sense together.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2788920"/>
            <a:ext cx="1874519" cy="2514600"/>
          </a:xfrm>
          <a:prstGeom prst="roundRect">
            <a:avLst/>
          </a:prstGeom>
          <a:solidFill>
            <a:srgbClr val="DCFC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20072" y="2953512"/>
            <a:ext cx="1719072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401568"/>
            <a:ext cx="1691640" cy="22860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150" b="1">
                <a:solidFill>
                  <a:srgbClr val="1F2937"/>
                </a:solidFill>
                <a:latin typeface="Aptos"/>
              </a:defRPr>
            </a:pPr>
            <a:r>
              <a:t>Data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803904"/>
            <a:ext cx="1600200" cy="868680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algn="ctr">
              <a:defRPr sz="919" b="0">
                <a:solidFill>
                  <a:srgbClr val="566373"/>
                </a:solidFill>
                <a:latin typeface="Aptos"/>
              </a:defRPr>
            </a:pPr>
            <a:r>
              <a:t>Highest weight because a verified database record makes the answer trustworthy.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5760720"/>
            <a:ext cx="9921240" cy="411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98448" y="5870448"/>
            <a:ext cx="9601200" cy="13716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40" b="1">
                <a:solidFill>
                  <a:srgbClr val="1F2937"/>
                </a:solidFill>
                <a:latin typeface="Aptos"/>
              </a:defRPr>
            </a:pPr>
            <a:r>
              <a:t>Reason for weights: Intent tells what the user wants, but data verification decides whether the bot can safely answer with facts.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Confidence Levels and Human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Making automation safe instead of forcing low-quality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14600" cy="2743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73352"/>
            <a:ext cx="2240280" cy="27432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240280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Aptos"/>
              </a:defRPr>
            </a:pPr>
            <a:r>
              <a:t>75–100%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057400" cy="41148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19" b="0">
                <a:solidFill>
                  <a:srgbClr val="566373"/>
                </a:solidFill>
                <a:latin typeface="Aptos"/>
              </a:defRPr>
            </a:pPr>
            <a:r>
              <a:t>Answer is verified and reliable.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37560"/>
            <a:ext cx="2011679" cy="5618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3474720"/>
            <a:ext cx="1737360" cy="42473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840" b="1">
                <a:solidFill>
                  <a:srgbClr val="1F2937"/>
                </a:solidFill>
                <a:latin typeface="Aptos"/>
              </a:defRPr>
            </a:pPr>
            <a:r>
              <a:rPr sz="1200"/>
              <a:t>Auto-answer with explanation.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417320"/>
            <a:ext cx="2514600" cy="2743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673352"/>
            <a:ext cx="2240280" cy="27432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057400"/>
            <a:ext cx="2240280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Aptos"/>
              </a:defRPr>
            </a:pPr>
            <a:r>
              <a:t>50–74%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87752"/>
            <a:ext cx="2057400" cy="41148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19" b="0">
                <a:solidFill>
                  <a:srgbClr val="566373"/>
                </a:solidFill>
                <a:latin typeface="Aptos"/>
              </a:defRPr>
            </a:pPr>
            <a:r>
              <a:t>Helpful but may need extra detail.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337560"/>
            <a:ext cx="1965959" cy="5618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0208" y="3474720"/>
            <a:ext cx="1737360" cy="42473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840" b="1">
                <a:solidFill>
                  <a:srgbClr val="1F2937"/>
                </a:solidFill>
                <a:latin typeface="Aptos"/>
              </a:defRPr>
            </a:pPr>
            <a:r>
              <a:rPr sz="1200"/>
              <a:t>Answer + ask clarifying question.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2514600" cy="27432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1673352"/>
            <a:ext cx="2240280" cy="27432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057400"/>
            <a:ext cx="2240280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Aptos"/>
              </a:defRPr>
            </a:pPr>
            <a:r>
              <a:t>30–49%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87752"/>
            <a:ext cx="2057400" cy="41148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19" b="0">
                <a:solidFill>
                  <a:srgbClr val="566373"/>
                </a:solidFill>
                <a:latin typeface="Aptos"/>
              </a:defRPr>
            </a:pPr>
            <a:r>
              <a:t>Limited confidence or missing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337559"/>
            <a:ext cx="1965959" cy="5618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4848" y="3474720"/>
            <a:ext cx="1737360" cy="24006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840" b="1">
                <a:solidFill>
                  <a:srgbClr val="1F2937"/>
                </a:solidFill>
                <a:latin typeface="Aptos"/>
              </a:defRPr>
            </a:pPr>
            <a:r>
              <a:rPr sz="1200"/>
              <a:t>Offer agent handoff.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417320"/>
            <a:ext cx="2514600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1673352"/>
            <a:ext cx="2240280" cy="27432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500" b="1">
                <a:solidFill>
                  <a:srgbClr val="DC2626"/>
                </a:solidFill>
                <a:latin typeface="Aptos"/>
              </a:defRPr>
            </a:pPr>
            <a:r>
              <a:t>VERY 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057400"/>
            <a:ext cx="2240280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Aptos"/>
              </a:defRPr>
            </a:pPr>
            <a:r>
              <a:t>0–29%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587752"/>
            <a:ext cx="2057400" cy="41148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19" b="0">
                <a:solidFill>
                  <a:srgbClr val="566373"/>
                </a:solidFill>
                <a:latin typeface="Aptos"/>
              </a:defRPr>
            </a:pPr>
            <a:r>
              <a:t>Risky or unsupported answer.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5480" y="3337560"/>
            <a:ext cx="1874519" cy="5618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19488" y="3474720"/>
            <a:ext cx="1737360" cy="42473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840" b="1">
                <a:solidFill>
                  <a:srgbClr val="1F2937"/>
                </a:solidFill>
                <a:latin typeface="Aptos"/>
              </a:defRPr>
            </a:pPr>
            <a:r>
              <a:rPr sz="1200"/>
              <a:t>Recommend human agent.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4800600"/>
            <a:ext cx="10378440" cy="15298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" y="4983480"/>
            <a:ext cx="292608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006864"/>
                </a:solidFill>
                <a:latin typeface="Aptos"/>
              </a:defRPr>
            </a:pPr>
            <a:r>
              <a:t>Human Handoff Triggers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285232"/>
            <a:ext cx="9784080" cy="502920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 marL="228600" indent="-142875">
              <a:spcAft>
                <a:spcPts val="400"/>
              </a:spcAft>
              <a:defRPr sz="1019">
                <a:solidFill>
                  <a:srgbClr val="1F2937"/>
                </a:solidFill>
                <a:latin typeface="Aptos"/>
              </a:defRPr>
            </a:pPr>
            <a:r>
              <a:rPr dirty="0"/>
              <a:t>Confidence drops below the safe threshold.</a:t>
            </a:r>
          </a:p>
          <a:p>
            <a:pPr marL="228600" indent="-142875">
              <a:spcAft>
                <a:spcPts val="400"/>
              </a:spcAft>
              <a:defRPr sz="1019">
                <a:solidFill>
                  <a:srgbClr val="1F2937"/>
                </a:solidFill>
                <a:latin typeface="Aptos"/>
              </a:defRPr>
            </a:pPr>
            <a:r>
              <a:rPr dirty="0"/>
              <a:t>User frustration intensity becomes high.</a:t>
            </a:r>
          </a:p>
          <a:p>
            <a:pPr marL="228600" indent="-142875">
              <a:spcAft>
                <a:spcPts val="400"/>
              </a:spcAft>
              <a:defRPr sz="1019">
                <a:solidFill>
                  <a:srgbClr val="1F2937"/>
                </a:solidFill>
                <a:latin typeface="Aptos"/>
              </a:defRPr>
            </a:pPr>
            <a:r>
              <a:rPr dirty="0"/>
              <a:t>Provided order, transaction, customer, or subscription ID is not found.</a:t>
            </a:r>
          </a:p>
          <a:p>
            <a:pPr marL="228600" indent="-142875">
              <a:spcAft>
                <a:spcPts val="400"/>
              </a:spcAft>
              <a:defRPr sz="1019">
                <a:solidFill>
                  <a:srgbClr val="1F2937"/>
                </a:solidFill>
                <a:latin typeface="Aptos"/>
              </a:defRPr>
            </a:pPr>
            <a:r>
              <a:rPr dirty="0"/>
              <a:t>The issue is sensitive, financial, or cannot be verified from available records.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Database Integration and Genuine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Why this project gives more than generic chatbot replies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029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2004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500" b="1">
                <a:solidFill>
                  <a:srgbClr val="006864"/>
                </a:solidFill>
                <a:latin typeface="Aptos"/>
              </a:defRPr>
            </a:pPr>
            <a:r>
              <a:t>Data Entities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57400"/>
            <a:ext cx="4526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203704"/>
            <a:ext cx="1371600" cy="12801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1080" b="1">
                <a:solidFill>
                  <a:srgbClr val="1F2937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203704"/>
            <a:ext cx="3063240" cy="12801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969" b="0">
                <a:solidFill>
                  <a:srgbClr val="566373"/>
                </a:solidFill>
                <a:latin typeface="Aptos"/>
              </a:defRPr>
            </a:pPr>
            <a:r>
              <a:t>Profile and account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688336"/>
            <a:ext cx="4526280" cy="50292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834640"/>
            <a:ext cx="1371600" cy="12801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1080" b="1">
                <a:solidFill>
                  <a:srgbClr val="1F2937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834640"/>
            <a:ext cx="3063240" cy="12801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969" b="0">
                <a:solidFill>
                  <a:srgbClr val="566373"/>
                </a:solidFill>
                <a:latin typeface="Aptos"/>
              </a:defRPr>
            </a:pPr>
            <a:r>
              <a:t>Status, delivery, item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319272"/>
            <a:ext cx="4526280" cy="50292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465576"/>
            <a:ext cx="1371600" cy="12801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1080" b="1">
                <a:solidFill>
                  <a:srgbClr val="1F2937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465576"/>
            <a:ext cx="3063240" cy="12801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969" b="0">
                <a:solidFill>
                  <a:srgbClr val="566373"/>
                </a:solidFill>
                <a:latin typeface="Aptos"/>
              </a:defRPr>
            </a:pPr>
            <a:r>
              <a:t>Payment and refund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950208"/>
            <a:ext cx="4526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096512"/>
            <a:ext cx="1371600" cy="12801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1080" b="1">
                <a:solidFill>
                  <a:srgbClr val="1F2937"/>
                </a:solidFill>
                <a:latin typeface="Aptos"/>
              </a:defRPr>
            </a:pPr>
            <a:r>
              <a:t>Subscriptions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096512"/>
            <a:ext cx="3063240" cy="12801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969" b="0">
                <a:solidFill>
                  <a:srgbClr val="566373"/>
                </a:solidFill>
                <a:latin typeface="Aptos"/>
              </a:defRPr>
            </a:pPr>
            <a:r>
              <a:t>Plan, renewal, cancellation info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581144"/>
            <a:ext cx="4526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727448"/>
            <a:ext cx="1371600" cy="12801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1080" b="1">
                <a:solidFill>
                  <a:srgbClr val="1F2937"/>
                </a:solidFill>
                <a:latin typeface="Aptos"/>
              </a:defRPr>
            </a:pPr>
            <a:r>
              <a:t>Interactions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727448"/>
            <a:ext cx="3063240" cy="128016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969" b="0">
                <a:solidFill>
                  <a:srgbClr val="566373"/>
                </a:solidFill>
                <a:latin typeface="Aptos"/>
              </a:defRPr>
            </a:pPr>
            <a:r>
              <a:t>Conversation logs and outcomes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1417320"/>
            <a:ext cx="5303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645920"/>
            <a:ext cx="32004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ptos"/>
              </a:defRPr>
            </a:pPr>
            <a:r>
              <a:t>Verification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011680"/>
            <a:ext cx="4617720" cy="740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46520" y="2176272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222656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167128"/>
            <a:ext cx="384048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578608"/>
            <a:ext cx="4251959" cy="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rPr dirty="0"/>
              <a:t>Extract useful identifiers from the user message.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788920"/>
            <a:ext cx="4617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46520" y="2953512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00380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944368"/>
            <a:ext cx="384048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355848"/>
            <a:ext cx="4251959" cy="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Query the correct database table based on detected intent.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566160"/>
            <a:ext cx="4617720" cy="740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46520" y="3730752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378104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721608"/>
            <a:ext cx="384048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133088"/>
            <a:ext cx="4251959" cy="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rPr dirty="0"/>
              <a:t>Build the reply using the retrieved record and status.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343400"/>
            <a:ext cx="4617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46520" y="4507992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4558284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498848"/>
            <a:ext cx="384048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Step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910328"/>
            <a:ext cx="4251959" cy="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If record is missing, reduce confidence and recommend escalation.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Explainable AI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What the system shows to make the answer understandable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20624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500" b="1">
                <a:solidFill>
                  <a:srgbClr val="006864"/>
                </a:solidFill>
                <a:latin typeface="Aptos"/>
              </a:defRPr>
            </a:pPr>
            <a:r>
              <a:t>Example Explanation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84831"/>
            <a:ext cx="4526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194560"/>
            <a:ext cx="150876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1">
                <a:solidFill>
                  <a:srgbClr val="566373"/>
                </a:solidFill>
                <a:latin typeface="Aptos"/>
              </a:defRPr>
            </a:pPr>
            <a:r>
              <a:t>Predicted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194560"/>
            <a:ext cx="274320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0">
                <a:solidFill>
                  <a:srgbClr val="1F2937"/>
                </a:solidFill>
                <a:latin typeface="Aptos"/>
              </a:defRPr>
            </a:pPr>
            <a:r>
              <a:t>Refund / Billing Issue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60320"/>
            <a:ext cx="4526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670048"/>
            <a:ext cx="150876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1">
                <a:solidFill>
                  <a:srgbClr val="566373"/>
                </a:solidFill>
                <a:latin typeface="Aptos"/>
              </a:defRPr>
            </a:pPr>
            <a:r>
              <a:t>Sentiment 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670048"/>
            <a:ext cx="274320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0">
                <a:solidFill>
                  <a:srgbClr val="1F2937"/>
                </a:solidFill>
                <a:latin typeface="Aptos"/>
              </a:defRPr>
            </a:pPr>
            <a:r>
              <a:t>Negative, frustration = 0.68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35808"/>
            <a:ext cx="4526280" cy="393192"/>
          </a:xfrm>
          <a:prstGeom prst="roundRect">
            <a:avLst/>
          </a:prstGeom>
          <a:solidFill>
            <a:srgbClr val="DCFC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145536"/>
            <a:ext cx="150876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1">
                <a:solidFill>
                  <a:srgbClr val="566373"/>
                </a:solidFill>
                <a:latin typeface="Aptos"/>
              </a:defRPr>
            </a:pPr>
            <a:r>
              <a:t>Confidence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3145536"/>
            <a:ext cx="274320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0">
                <a:solidFill>
                  <a:srgbClr val="1F2937"/>
                </a:solidFill>
                <a:latin typeface="Aptos"/>
              </a:defRPr>
            </a:pPr>
            <a:r>
              <a:t>62% — 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11296"/>
            <a:ext cx="4526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3621024"/>
            <a:ext cx="150876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1">
                <a:solidFill>
                  <a:srgbClr val="566373"/>
                </a:solidFill>
                <a:latin typeface="Aptos"/>
              </a:defRPr>
            </a:pPr>
            <a:r>
              <a:t>Key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3621024"/>
            <a:ext cx="274320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0">
                <a:solidFill>
                  <a:srgbClr val="1F2937"/>
                </a:solidFill>
                <a:latin typeface="Aptos"/>
              </a:defRPr>
            </a:pPr>
            <a:r>
              <a:t>charged twice, refund, order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86783"/>
            <a:ext cx="4526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4096511"/>
            <a:ext cx="150876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1">
                <a:solidFill>
                  <a:srgbClr val="566373"/>
                </a:solidFill>
                <a:latin typeface="Aptos"/>
              </a:defRPr>
            </a:pPr>
            <a:r>
              <a:t>Database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4096511"/>
            <a:ext cx="274320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0">
                <a:solidFill>
                  <a:srgbClr val="1F2937"/>
                </a:solidFill>
                <a:latin typeface="Aptos"/>
              </a:defRPr>
            </a:pPr>
            <a:r>
              <a:t>transactions + orders 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62271"/>
            <a:ext cx="4526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4571999"/>
            <a:ext cx="150876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1">
                <a:solidFill>
                  <a:srgbClr val="566373"/>
                </a:solidFill>
                <a:latin typeface="Aptos"/>
              </a:defRPr>
            </a:pPr>
            <a:r>
              <a:t>Recommended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8608" y="4571999"/>
            <a:ext cx="2743200" cy="914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880" b="0">
                <a:solidFill>
                  <a:srgbClr val="1F2937"/>
                </a:solidFill>
                <a:latin typeface="Aptos"/>
              </a:defRPr>
            </a:pPr>
            <a:r>
              <a:t>Provide answer + offer agent option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41732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664208"/>
            <a:ext cx="438912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ptos"/>
              </a:defRPr>
            </a:pPr>
            <a:r>
              <a:t>Why this impresses in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303584"/>
            <a:ext cx="4663440" cy="1562479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 marL="228600" indent="-142875">
              <a:spcAft>
                <a:spcPts val="400"/>
              </a:spcAft>
              <a:defRPr sz="114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The user can see why the bot made a decision.</a:t>
            </a:r>
          </a:p>
          <a:p>
            <a:pPr marL="228600" indent="-142875">
              <a:spcAft>
                <a:spcPts val="400"/>
              </a:spcAft>
              <a:defRPr sz="114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The support agent receives useful context before taking over.</a:t>
            </a:r>
          </a:p>
          <a:p>
            <a:pPr marL="228600" indent="-142875">
              <a:spcAft>
                <a:spcPts val="400"/>
              </a:spcAft>
              <a:defRPr sz="114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Developers can debug wrong predictions by checking intent, sentiment, and DB source.</a:t>
            </a:r>
          </a:p>
          <a:p>
            <a:pPr marL="228600" indent="-142875">
              <a:spcAft>
                <a:spcPts val="400"/>
              </a:spcAft>
              <a:defRPr sz="114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This directly addresses the black-box limitation of many existing chatbots.</a:t>
            </a:r>
          </a:p>
          <a:p>
            <a:pPr marL="228600" indent="-142875">
              <a:spcAft>
                <a:spcPts val="400"/>
              </a:spcAft>
              <a:defRPr sz="114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It makes AI behavior measurable instead of only conversational.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Demo Scenario: Refund or Billing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How the system behaves in a realistic support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4937760" cy="658368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4572000" cy="146304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ptos"/>
              </a:defRPr>
            </a:pPr>
            <a:r>
              <a:t>User: “I was charged twice. Can I get a refund?”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4754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39" y="2496312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39" y="2546603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87168"/>
            <a:ext cx="397764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Intent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98648"/>
            <a:ext cx="4389120" cy="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rPr dirty="0"/>
              <a:t>refund / billing issue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90671"/>
            <a:ext cx="4754880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39" y="3255264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39" y="3305556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46120"/>
            <a:ext cx="397764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Sentiment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57600"/>
            <a:ext cx="4389120" cy="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negative + urgency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849623"/>
            <a:ext cx="4754880" cy="7498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39" y="4014215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39" y="4064508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05072"/>
            <a:ext cx="397764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Database Lookup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16552"/>
            <a:ext cx="4389120" cy="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t>transactions and orders checked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608575"/>
            <a:ext cx="4754880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39" y="4773167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39" y="4823459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64023"/>
            <a:ext cx="397764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t>Confidence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175503"/>
            <a:ext cx="4389120" cy="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rPr dirty="0"/>
              <a:t>medium/high if payment record is found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367527"/>
            <a:ext cx="4754880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5839" y="5532119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39" y="5582412"/>
            <a:ext cx="365760" cy="164592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522975"/>
            <a:ext cx="397764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50" b="1">
                <a:solidFill>
                  <a:srgbClr val="006864"/>
                </a:solidFill>
                <a:latin typeface="Aptos"/>
              </a:defRPr>
            </a:pPr>
            <a:r>
              <a:rPr dirty="0"/>
              <a:t>Response + Handoff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934455"/>
            <a:ext cx="4389120" cy="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070" b="0">
                <a:solidFill>
                  <a:srgbClr val="566373"/>
                </a:solidFill>
                <a:latin typeface="Aptos"/>
              </a:defRPr>
            </a:pPr>
            <a:r>
              <a:rPr dirty="0"/>
              <a:t>answer with next step and agent option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17320"/>
            <a:ext cx="5074920" cy="4526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1664208"/>
            <a:ext cx="429768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500" b="1">
                <a:solidFill>
                  <a:srgbClr val="16A34A"/>
                </a:solidFill>
                <a:latin typeface="Aptos"/>
              </a:defRPr>
            </a:pPr>
            <a:r>
              <a:t>Expected Bot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148840"/>
            <a:ext cx="4617720" cy="12801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Aptos"/>
              </a:defRPr>
            </a:pPr>
            <a:r>
              <a:t>I found the transaction linked to your account. The system detected a possible billing/refund issue. Your request has medium confidence because the transaction is available, but refund approval requires confirmation. I can guide you through the next step or connect you with an agent.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794760"/>
            <a:ext cx="438912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300" b="1">
                <a:solidFill>
                  <a:srgbClr val="006864"/>
                </a:solidFill>
                <a:latin typeface="Aptos"/>
              </a:defRPr>
            </a:pPr>
            <a:r>
              <a:t>Why this is better: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096512"/>
            <a:ext cx="4617720" cy="960120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 marL="228600" indent="-142875">
              <a:spcAft>
                <a:spcPts val="4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/>
              <a:t>The reply is not random or generic.</a:t>
            </a:r>
          </a:p>
          <a:p>
            <a:pPr marL="228600" indent="-142875">
              <a:spcAft>
                <a:spcPts val="4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/>
              <a:t>It is backed by intent, sentiment, and database context.</a:t>
            </a:r>
          </a:p>
          <a:p>
            <a:pPr marL="228600" indent="-142875">
              <a:spcAft>
                <a:spcPts val="4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/>
              <a:t>The user is offered a human option when financial risk exists.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2800" b="1">
                <a:solidFill>
                  <a:srgbClr val="006864"/>
                </a:solidFill>
                <a:latin typeface="Aptos Display"/>
              </a:defRPr>
            </a:pPr>
            <a:r>
              <a:t>Conclusion and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686800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250" b="0">
                <a:solidFill>
                  <a:srgbClr val="566373"/>
                </a:solidFill>
                <a:latin typeface="Aptos"/>
              </a:defRPr>
            </a:pPr>
            <a:r>
              <a:t>Why the project is practical, transparent, and useful for real support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502920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>
              <a:defRPr sz="1200" b="1">
                <a:solidFill>
                  <a:srgbClr val="00686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960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6400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600200"/>
            <a:ext cx="27432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700" b="1">
                <a:solidFill>
                  <a:srgbClr val="006864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11680"/>
            <a:ext cx="5806440" cy="2424253"/>
          </a:xfrm>
          <a:prstGeom prst="rect">
            <a:avLst/>
          </a:prstGeom>
          <a:noFill/>
        </p:spPr>
        <p:txBody>
          <a:bodyPr wrap="square" tIns="18288" rIns="45720">
            <a:spAutoFit/>
          </a:bodyPr>
          <a:lstStyle/>
          <a:p>
            <a:pPr marL="228600" indent="-142875"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The system improves over traditional chatbots by showing confidence instead of hiding uncertainty.</a:t>
            </a:r>
          </a:p>
          <a:p>
            <a:pPr marL="228600" indent="-142875"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AI is used for intent detection, sentiment analysis, response generation, and support decision-making.</a:t>
            </a:r>
          </a:p>
          <a:p>
            <a:pPr marL="228600" indent="-142875"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Database verification makes responses more factual and personalized than generic templates.</a:t>
            </a:r>
          </a:p>
          <a:p>
            <a:pPr marL="228600" indent="-142875"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Explainable AI helps customers, support agents, and developers understand each decision.</a:t>
            </a:r>
          </a:p>
          <a:p>
            <a:pPr marL="228600" indent="-142875"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Human handoff keeps the system safe when confidence is low or the issue is sensitive.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17320"/>
            <a:ext cx="3611880" cy="3429000"/>
          </a:xfrm>
          <a:prstGeom prst="roundRect">
            <a:avLst/>
          </a:prstGeom>
          <a:solidFill>
            <a:srgbClr val="DCFCF7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063240" cy="320040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1700" b="1">
                <a:solidFill>
                  <a:srgbClr val="006864"/>
                </a:solidFill>
                <a:latin typeface="Aptos"/>
              </a:defRPr>
            </a:pPr>
            <a:r>
              <a:t>Final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240280"/>
            <a:ext cx="2971800" cy="1600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  <a:latin typeface="Aptos"/>
              </a:defRPr>
            </a:pPr>
            <a:r>
              <a:t>Our project goes beyond a normal chatbot. It combines NLP, LLM-based response generation, real-time database verification, transparent confidence scoring, sentiment analysis, XAI, and proactive human handoff to create a trustworthy customer support assistant.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063240" cy="609398"/>
          </a:xfrm>
          <a:prstGeom prst="rect">
            <a:avLst/>
          </a:prstGeom>
          <a:noFill/>
        </p:spPr>
        <p:txBody>
          <a:bodyPr wrap="square" lIns="0" tIns="27432" rIns="0" bIns="27432">
            <a:spAutoFit/>
          </a:bodyPr>
          <a:lstStyle/>
          <a:p>
            <a:pPr algn="ctr">
              <a:defRPr sz="2200" b="1">
                <a:solidFill>
                  <a:srgbClr val="006864"/>
                </a:solidFill>
                <a:latin typeface="Aptos"/>
              </a:defRPr>
            </a:pPr>
            <a:r>
              <a:rPr sz="3600"/>
              <a:t>Thank </a:t>
            </a:r>
            <a:r>
              <a:rPr sz="3600" smtClean="0"/>
              <a:t>Yo</a:t>
            </a:r>
            <a:r>
              <a:rPr lang="en-IN" sz="3600" dirty="0" smtClean="0"/>
              <a:t>u</a:t>
            </a:r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>
              <a:defRPr sz="900" b="1">
                <a:solidFill>
                  <a:srgbClr val="566373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1749</Words>
  <Application>Microsoft Macintosh PowerPoint</Application>
  <PresentationFormat>Custom</PresentationFormat>
  <Paragraphs>297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Anjana</cp:lastModifiedBy>
  <cp:revision>4</cp:revision>
  <dcterms:created xsi:type="dcterms:W3CDTF">2013-01-27T09:14:16Z</dcterms:created>
  <dcterms:modified xsi:type="dcterms:W3CDTF">2026-04-30T22:26:36Z</dcterms:modified>
  <cp:category/>
</cp:coreProperties>
</file>